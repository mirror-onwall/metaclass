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6F78"/>
                </a:solidFill>
                <a:latin typeface="Arial"/>
              </a:defRPr>
            </a:pPr>
            <a:r>
              <a:rPr sz="3000" b="1">
                <a:solidFill>
                  <a:srgbClr val="1F6F78"/>
                </a:solidFill>
                <a:latin typeface="Arial"/>
                <a:ea typeface="Microsoft YaHei"/>
                <a:cs typeface="Arial"/>
              </a:rPr>
              <a:t>Matrix Multiplication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607040" y="411480"/>
            <a:ext cx="713232" cy="71323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406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6F78"/>
                </a:solidFill>
                <a:latin typeface="Arial"/>
              </a:defRPr>
            </a:pPr>
            <a:r>
              <a:rPr sz="1800" b="1">
                <a:solidFill>
                  <a:srgbClr val="1F6F78"/>
                </a:solidFill>
                <a:latin typeface="Arial"/>
                <a:ea typeface="Microsoft YaHei"/>
                <a:cs typeface="Arial"/>
              </a:rPr>
              <a:t>Matrix</a:t>
            </a:r>
          </a:p>
          <a:p>
            <a:pPr>
              <a:spcAft>
                <a:spcPts val="800"/>
              </a:spcAft>
              <a:defRPr sz="1500" b="0">
                <a:solidFill>
                  <a:srgbClr val="1F6F78"/>
                </a:solidFill>
                <a:latin typeface="Arial"/>
              </a:defRPr>
            </a:pPr>
            <a:r>
              <a:rPr sz="1500" b="0">
                <a:solidFill>
                  <a:srgbClr val="1F6F78"/>
                </a:solidFill>
                <a:latin typeface="Arial"/>
                <a:ea typeface="Microsoft YaHei"/>
                <a:cs typeface="Arial"/>
              </a:rPr>
              <a:t>Rows</a:t>
            </a:r>
          </a:p>
          <a:p>
            <a:pPr>
              <a:spcAft>
                <a:spcPts val="800"/>
              </a:spcAft>
              <a:defRPr sz="1500" b="0">
                <a:solidFill>
                  <a:srgbClr val="1F6F78"/>
                </a:solidFill>
                <a:latin typeface="Arial"/>
              </a:defRPr>
            </a:pPr>
            <a:r>
              <a:rPr sz="1500" b="0">
                <a:solidFill>
                  <a:srgbClr val="1F6F78"/>
                </a:solidFill>
                <a:latin typeface="Arial"/>
                <a:ea typeface="Microsoft YaHei"/>
                <a:cs typeface="Arial"/>
              </a:rPr>
              <a:t>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17320"/>
            <a:ext cx="47548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8308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1495B"/>
                </a:solidFill>
                <a:latin typeface="Arial"/>
              </a:defRPr>
            </a:pPr>
            <a:r>
              <a:rPr sz="1400" b="1">
                <a:solidFill>
                  <a:srgbClr val="D1495B"/>
                </a:solidFill>
                <a:latin typeface="Arial"/>
                <a:ea typeface="Microsoft YaHei"/>
                <a:cs typeface="Arial"/>
              </a:rPr>
              <a:t>Visual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331720"/>
            <a:ext cx="397763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6F78"/>
                </a:solidFill>
                <a:latin typeface="Arial"/>
              </a:defRPr>
            </a:pPr>
            <a:r>
              <a:rPr sz="1400" b="0">
                <a:solidFill>
                  <a:srgbClr val="1F6F78"/>
                </a:solidFill>
                <a:latin typeface="Arial"/>
                <a:ea typeface="Microsoft YaHei"/>
                <a:cs typeface="Arial"/>
              </a:rPr>
              <a:t>Use the source page image with a</a:t>
            </a:r>
            <a:br/>
            <a:r>
              <a:t>highlighted callout for Matrix</a:t>
            </a:r>
            <a:br/>
            <a:r>
              <a:t>Multiplication.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806440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  <a:latin typeface="Arial"/>
              </a:defRPr>
            </a:pPr>
            <a:r>
              <a:rPr sz="1100" b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讲稿摘要：这一页我们讲Matrix Multiplication。Matrix Multiplication Rows are multiplied by columns....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Multiplication</dc:title>
  <dc:subject/>
  <dc:creator>MetaClass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